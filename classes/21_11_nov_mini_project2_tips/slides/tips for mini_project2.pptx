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  <p:sldId id="261" r:id="rId9"/>
    <p:sldId id="259" r:id="rId10"/>
    <p:sldId id="260" r:id="rId11"/>
    <p:sldId id="262" r:id="rId12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329AE-443C-4FDD-9D7A-15C954D6DECC}" v="412" dt="2025-11-11T08:09:24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Mini project 2</a:t>
            </a:r>
            <a:br>
              <a:rPr lang="en-US" dirty="0"/>
            </a:br>
            <a:r>
              <a:rPr lang="en-US" dirty="0"/>
              <a:t>general tips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AFFE-7F40-CE8E-675E-897BDF56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Are </a:t>
            </a:r>
            <a:r>
              <a:rPr lang="da-DK" dirty="0" err="1"/>
              <a:t>boundaries</a:t>
            </a:r>
            <a:r>
              <a:rPr lang="da-DK" dirty="0"/>
              <a:t> </a:t>
            </a:r>
            <a:r>
              <a:rPr lang="da-DK" dirty="0" err="1"/>
              <a:t>included</a:t>
            </a:r>
            <a:r>
              <a:rPr lang="da-DK" dirty="0"/>
              <a:t> in model?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1432B7-F53E-5BF1-5075-065B48E78B2B}"/>
              </a:ext>
            </a:extLst>
          </p:cNvPr>
          <p:cNvCxnSpPr/>
          <p:nvPr/>
        </p:nvCxnSpPr>
        <p:spPr>
          <a:xfrm>
            <a:off x="2923082" y="2758193"/>
            <a:ext cx="66556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335384-E9C1-0227-2BD7-8E93093CB323}"/>
              </a:ext>
            </a:extLst>
          </p:cNvPr>
          <p:cNvCxnSpPr/>
          <p:nvPr/>
        </p:nvCxnSpPr>
        <p:spPr>
          <a:xfrm>
            <a:off x="2923082" y="2653263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D2647-B793-312A-C602-0F9837432611}"/>
              </a:ext>
            </a:extLst>
          </p:cNvPr>
          <p:cNvCxnSpPr/>
          <p:nvPr/>
        </p:nvCxnSpPr>
        <p:spPr>
          <a:xfrm>
            <a:off x="9566226" y="2655763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3EC427-BCD1-8C98-026A-3EA5EDB901CC}"/>
              </a:ext>
            </a:extLst>
          </p:cNvPr>
          <p:cNvCxnSpPr/>
          <p:nvPr/>
        </p:nvCxnSpPr>
        <p:spPr>
          <a:xfrm>
            <a:off x="4034851" y="2655762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931080-162A-8F65-199F-45FE457F5BA9}"/>
              </a:ext>
            </a:extLst>
          </p:cNvPr>
          <p:cNvSpPr txBox="1"/>
          <p:nvPr/>
        </p:nvSpPr>
        <p:spPr>
          <a:xfrm>
            <a:off x="2668249" y="2950565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5B445-7786-20FE-535B-9CAF9C394975}"/>
              </a:ext>
            </a:extLst>
          </p:cNvPr>
          <p:cNvSpPr txBox="1"/>
          <p:nvPr/>
        </p:nvSpPr>
        <p:spPr>
          <a:xfrm>
            <a:off x="3780019" y="2950565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c[1]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3CC65-9EA9-E71A-A167-394DB585CBC8}"/>
              </a:ext>
            </a:extLst>
          </p:cNvPr>
          <p:cNvSpPr txBox="1"/>
          <p:nvPr/>
        </p:nvSpPr>
        <p:spPr>
          <a:xfrm>
            <a:off x="3270416" y="2296420"/>
            <a:ext cx="41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dx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75FD2B-14D3-5FFF-2A97-F09A672FEA09}"/>
              </a:ext>
            </a:extLst>
          </p:cNvPr>
          <p:cNvSpPr txBox="1"/>
          <p:nvPr/>
        </p:nvSpPr>
        <p:spPr>
          <a:xfrm>
            <a:off x="1194923" y="3659668"/>
            <a:ext cx="948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1: </a:t>
            </a:r>
            <a:r>
              <a:rPr lang="da-DK" dirty="0" err="1"/>
              <a:t>dcdt</a:t>
            </a:r>
            <a:r>
              <a:rPr lang="da-DK" dirty="0"/>
              <a:t>[0] = 0 and c0[0] =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value</a:t>
            </a:r>
            <a:r>
              <a:rPr lang="da-DK" dirty="0"/>
              <a:t> at </a:t>
            </a:r>
            <a:r>
              <a:rPr lang="da-DK" dirty="0" err="1"/>
              <a:t>edge</a:t>
            </a:r>
            <a:r>
              <a:rPr lang="da-DK" dirty="0"/>
              <a:t> of domain (</a:t>
            </a:r>
            <a:r>
              <a:rPr lang="da-DK" dirty="0" err="1"/>
              <a:t>included</a:t>
            </a:r>
            <a:r>
              <a:rPr lang="da-DK" dirty="0"/>
              <a:t> by dx/2)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5934FD-20B9-B186-30FE-E3C0ABAAD43E}"/>
                  </a:ext>
                </a:extLst>
              </p:cNvPr>
              <p:cNvSpPr txBox="1"/>
              <p:nvPr/>
            </p:nvSpPr>
            <p:spPr>
              <a:xfrm>
                <a:off x="1194923" y="4081742"/>
                <a:ext cx="9774984" cy="5238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Dirichlet </a:t>
                </a:r>
                <a:r>
                  <a:rPr lang="da-DK" dirty="0" err="1"/>
                  <a:t>method</a:t>
                </a:r>
                <a:r>
                  <a:rPr lang="da-DK" dirty="0"/>
                  <a:t> 2: </a:t>
                </a:r>
                <a:r>
                  <a:rPr lang="da-DK" dirty="0" err="1"/>
                  <a:t>dcdt</a:t>
                </a:r>
                <a:r>
                  <a:rPr lang="da-DK" dirty="0"/>
                  <a:t>[0] = 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𝑙𝑒𝑓𝑡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− 2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dirty="0"/>
                  <a:t> and c0[0] = 0. </a:t>
                </a:r>
                <a:r>
                  <a:rPr lang="da-DK" dirty="0" err="1"/>
                  <a:t>Boundary</a:t>
                </a:r>
                <a:r>
                  <a:rPr lang="da-DK" dirty="0"/>
                  <a:t> </a:t>
                </a:r>
                <a:r>
                  <a:rPr lang="da-DK" dirty="0" err="1"/>
                  <a:t>value</a:t>
                </a:r>
                <a:r>
                  <a:rPr lang="da-DK" dirty="0"/>
                  <a:t> 1 dx </a:t>
                </a:r>
                <a:r>
                  <a:rPr lang="da-DK" dirty="0" err="1"/>
                  <a:t>outside</a:t>
                </a:r>
                <a:r>
                  <a:rPr lang="da-DK" dirty="0"/>
                  <a:t> domain.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5934FD-20B9-B186-30FE-E3C0ABAAD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923" y="4081742"/>
                <a:ext cx="9774984" cy="523861"/>
              </a:xfrm>
              <a:prstGeom prst="rect">
                <a:avLst/>
              </a:prstGeom>
              <a:blipFill>
                <a:blip r:embed="rId2"/>
                <a:stretch>
                  <a:fillRect l="-499" r="-312" b="-814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8217DE3-B063-CD6E-DB28-32124EF08461}"/>
              </a:ext>
            </a:extLst>
          </p:cNvPr>
          <p:cNvSpPr txBox="1"/>
          <p:nvPr/>
        </p:nvSpPr>
        <p:spPr>
          <a:xfrm>
            <a:off x="1521737" y="2922868"/>
            <a:ext cx="739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c_left</a:t>
            </a:r>
            <a:endParaRPr lang="da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B9D424-255F-FD24-DEF6-86B9341CA2A4}"/>
              </a:ext>
            </a:extLst>
          </p:cNvPr>
          <p:cNvSpPr txBox="1"/>
          <p:nvPr/>
        </p:nvSpPr>
        <p:spPr>
          <a:xfrm>
            <a:off x="9765075" y="255353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c_right</a:t>
            </a:r>
            <a:endParaRPr lang="da-DK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3519E0-7815-FEC8-7F54-605BB951205D}"/>
              </a:ext>
            </a:extLst>
          </p:cNvPr>
          <p:cNvCxnSpPr/>
          <p:nvPr/>
        </p:nvCxnSpPr>
        <p:spPr>
          <a:xfrm>
            <a:off x="1891261" y="2655763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13529D0-09E6-DA39-31FE-75895C2EB90F}"/>
              </a:ext>
            </a:extLst>
          </p:cNvPr>
          <p:cNvSpPr txBox="1"/>
          <p:nvPr/>
        </p:nvSpPr>
        <p:spPr>
          <a:xfrm>
            <a:off x="1194923" y="1639963"/>
            <a:ext cx="1347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Ghost point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A4B756-1C9D-AE31-7BE7-C44D18D1DF27}"/>
              </a:ext>
            </a:extLst>
          </p:cNvPr>
          <p:cNvCxnSpPr>
            <a:cxnSpLocks/>
          </p:cNvCxnSpPr>
          <p:nvPr/>
        </p:nvCxnSpPr>
        <p:spPr>
          <a:xfrm>
            <a:off x="1891261" y="2009295"/>
            <a:ext cx="0" cy="5442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676561-58DF-CBC0-1BD2-A37EAE960E67}"/>
              </a:ext>
            </a:extLst>
          </p:cNvPr>
          <p:cNvCxnSpPr/>
          <p:nvPr/>
        </p:nvCxnSpPr>
        <p:spPr>
          <a:xfrm>
            <a:off x="1891261" y="2753192"/>
            <a:ext cx="103182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79CB827-4449-DC9F-A142-C0A786F227B5}"/>
              </a:ext>
            </a:extLst>
          </p:cNvPr>
          <p:cNvSpPr txBox="1"/>
          <p:nvPr/>
        </p:nvSpPr>
        <p:spPr>
          <a:xfrm>
            <a:off x="9203962" y="2963058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c[-1]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14D39F-D783-7EC3-F4F8-8559886DA918}"/>
              </a:ext>
            </a:extLst>
          </p:cNvPr>
          <p:cNvSpPr txBox="1"/>
          <p:nvPr/>
        </p:nvSpPr>
        <p:spPr>
          <a:xfrm>
            <a:off x="2650136" y="4930474"/>
            <a:ext cx="72015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Method 2 is </a:t>
            </a:r>
            <a:r>
              <a:rPr lang="da-DK" dirty="0" err="1"/>
              <a:t>shifted</a:t>
            </a:r>
            <a:r>
              <a:rPr lang="da-DK" dirty="0"/>
              <a:t> 1 dx </a:t>
            </a:r>
            <a:r>
              <a:rPr lang="da-DK" dirty="0" err="1"/>
              <a:t>left</a:t>
            </a:r>
            <a:r>
              <a:rPr lang="da-DK" dirty="0"/>
              <a:t> </a:t>
            </a:r>
            <a:r>
              <a:rPr lang="da-DK" dirty="0" err="1"/>
              <a:t>compared</a:t>
            </a:r>
            <a:r>
              <a:rPr lang="da-DK" dirty="0"/>
              <a:t> to </a:t>
            </a:r>
            <a:r>
              <a:rPr lang="da-DK" dirty="0" err="1"/>
              <a:t>method</a:t>
            </a:r>
            <a:r>
              <a:rPr lang="da-DK" dirty="0"/>
              <a:t> 1</a:t>
            </a:r>
          </a:p>
          <a:p>
            <a:endParaRPr lang="da-DK" dirty="0"/>
          </a:p>
          <a:p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gives the </a:t>
            </a:r>
            <a:r>
              <a:rPr lang="da-DK" dirty="0" err="1"/>
              <a:t>highest</a:t>
            </a:r>
            <a:r>
              <a:rPr lang="da-DK" dirty="0"/>
              <a:t> </a:t>
            </a:r>
            <a:r>
              <a:rPr lang="da-DK" dirty="0" err="1"/>
              <a:t>concentrations</a:t>
            </a:r>
            <a:r>
              <a:rPr lang="da-DK" dirty="0"/>
              <a:t> in the model domain??</a:t>
            </a:r>
          </a:p>
        </p:txBody>
      </p:sp>
    </p:spTree>
    <p:extLst>
      <p:ext uri="{BB962C8B-B14F-4D97-AF65-F5344CB8AC3E}">
        <p14:creationId xmlns:p14="http://schemas.microsoft.com/office/powerpoint/2010/main" val="252379842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B0B2C6-F1C4-4972-317B-2BECAC9C46B2}"/>
              </a:ext>
            </a:extLst>
          </p:cNvPr>
          <p:cNvCxnSpPr>
            <a:cxnSpLocks/>
          </p:cNvCxnSpPr>
          <p:nvPr/>
        </p:nvCxnSpPr>
        <p:spPr>
          <a:xfrm flipV="1">
            <a:off x="2593474" y="3739218"/>
            <a:ext cx="6766365" cy="19991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9F5A8A-65A9-B6D8-3D63-4DF91956E843}"/>
              </a:ext>
            </a:extLst>
          </p:cNvPr>
          <p:cNvCxnSpPr/>
          <p:nvPr/>
        </p:nvCxnSpPr>
        <p:spPr>
          <a:xfrm>
            <a:off x="2593474" y="3654279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AEFFE0-B229-7DC4-7350-68A1CDA1CA86}"/>
              </a:ext>
            </a:extLst>
          </p:cNvPr>
          <p:cNvCxnSpPr/>
          <p:nvPr/>
        </p:nvCxnSpPr>
        <p:spPr>
          <a:xfrm>
            <a:off x="9236618" y="3656779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E33E0-1F97-FE72-CC77-D433F7756315}"/>
              </a:ext>
            </a:extLst>
          </p:cNvPr>
          <p:cNvCxnSpPr/>
          <p:nvPr/>
        </p:nvCxnSpPr>
        <p:spPr>
          <a:xfrm>
            <a:off x="3705243" y="3656778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044C39-EA9B-72CC-64A2-55642886172F}"/>
              </a:ext>
            </a:extLst>
          </p:cNvPr>
          <p:cNvSpPr txBox="1"/>
          <p:nvPr/>
        </p:nvSpPr>
        <p:spPr>
          <a:xfrm>
            <a:off x="2338641" y="3951581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c[0]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D8929F-E6F2-3349-D047-C5058F3CA927}"/>
              </a:ext>
            </a:extLst>
          </p:cNvPr>
          <p:cNvSpPr txBox="1"/>
          <p:nvPr/>
        </p:nvSpPr>
        <p:spPr>
          <a:xfrm>
            <a:off x="3450411" y="3951581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c[1]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9A92E-9E7F-FB76-B58D-A6F1CE20E133}"/>
              </a:ext>
            </a:extLst>
          </p:cNvPr>
          <p:cNvSpPr txBox="1"/>
          <p:nvPr/>
        </p:nvSpPr>
        <p:spPr>
          <a:xfrm>
            <a:off x="2940808" y="4166864"/>
            <a:ext cx="41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dx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F9405-9F2C-B623-0A82-7A17FBB81FFF}"/>
              </a:ext>
            </a:extLst>
          </p:cNvPr>
          <p:cNvSpPr txBox="1"/>
          <p:nvPr/>
        </p:nvSpPr>
        <p:spPr>
          <a:xfrm>
            <a:off x="8874354" y="3947616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c[-1]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4B2F72-CE1D-B208-DF03-28FE38756753}"/>
              </a:ext>
            </a:extLst>
          </p:cNvPr>
          <p:cNvCxnSpPr>
            <a:cxnSpLocks/>
          </p:cNvCxnSpPr>
          <p:nvPr/>
        </p:nvCxnSpPr>
        <p:spPr>
          <a:xfrm>
            <a:off x="2593474" y="2017851"/>
            <a:ext cx="1111769" cy="840492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C06BE3-B2DC-D39C-EFC6-93311DD677E4}"/>
              </a:ext>
            </a:extLst>
          </p:cNvPr>
          <p:cNvCxnSpPr/>
          <p:nvPr/>
        </p:nvCxnSpPr>
        <p:spPr>
          <a:xfrm>
            <a:off x="3705243" y="2857298"/>
            <a:ext cx="1271667" cy="524655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8F336B-1C96-2508-7CBE-BCC274F62F86}"/>
              </a:ext>
            </a:extLst>
          </p:cNvPr>
          <p:cNvCxnSpPr/>
          <p:nvPr/>
        </p:nvCxnSpPr>
        <p:spPr>
          <a:xfrm>
            <a:off x="4976911" y="3381953"/>
            <a:ext cx="1214203" cy="172599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D519E1-F84B-806D-428C-D350F83A6626}"/>
              </a:ext>
            </a:extLst>
          </p:cNvPr>
          <p:cNvCxnSpPr/>
          <p:nvPr/>
        </p:nvCxnSpPr>
        <p:spPr>
          <a:xfrm>
            <a:off x="6191114" y="3554552"/>
            <a:ext cx="1514006" cy="99727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2C82BD-9A0C-09F1-20E6-C6C80C534E06}"/>
              </a:ext>
            </a:extLst>
          </p:cNvPr>
          <p:cNvCxnSpPr>
            <a:cxnSpLocks/>
          </p:cNvCxnSpPr>
          <p:nvPr/>
        </p:nvCxnSpPr>
        <p:spPr>
          <a:xfrm>
            <a:off x="7705120" y="3646993"/>
            <a:ext cx="1531498" cy="112216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528F6B6-951D-8F76-7F37-D3B28B584ECD}"/>
              </a:ext>
            </a:extLst>
          </p:cNvPr>
          <p:cNvSpPr txBox="1"/>
          <p:nvPr/>
        </p:nvSpPr>
        <p:spPr>
          <a:xfrm>
            <a:off x="3999750" y="1302068"/>
            <a:ext cx="4874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np.trapz</a:t>
            </a:r>
            <a:r>
              <a:rPr lang="da-DK" dirty="0"/>
              <a:t>(O2, </a:t>
            </a:r>
            <a:r>
              <a:rPr lang="da-DK" dirty="0" err="1"/>
              <a:t>x_grid</a:t>
            </a:r>
            <a:r>
              <a:rPr lang="da-DK" dirty="0"/>
              <a:t>) = </a:t>
            </a:r>
            <a:r>
              <a:rPr lang="da-DK" dirty="0" err="1"/>
              <a:t>area</a:t>
            </a:r>
            <a:r>
              <a:rPr lang="da-DK" dirty="0"/>
              <a:t> under </a:t>
            </a:r>
            <a:r>
              <a:rPr lang="da-DK" dirty="0" err="1"/>
              <a:t>curve</a:t>
            </a:r>
            <a:r>
              <a:rPr lang="da-DK" dirty="0"/>
              <a:t> </a:t>
            </a:r>
          </a:p>
          <a:p>
            <a:r>
              <a:rPr lang="da-DK" dirty="0"/>
              <a:t>                                             (total O2 in model domain)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E5C773-5062-1590-1CDB-2B9CF264A82F}"/>
              </a:ext>
            </a:extLst>
          </p:cNvPr>
          <p:cNvCxnSpPr/>
          <p:nvPr/>
        </p:nvCxnSpPr>
        <p:spPr>
          <a:xfrm flipH="1" flipV="1">
            <a:off x="2567147" y="1302068"/>
            <a:ext cx="26327" cy="245491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8A22050-2C38-DB18-3136-BBF33AD2A4E4}"/>
              </a:ext>
            </a:extLst>
          </p:cNvPr>
          <p:cNvSpPr txBox="1"/>
          <p:nvPr/>
        </p:nvSpPr>
        <p:spPr>
          <a:xfrm>
            <a:off x="2328941" y="77418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F40A30-F2E7-8967-7F64-6C848A41E1DA}"/>
              </a:ext>
            </a:extLst>
          </p:cNvPr>
          <p:cNvSpPr txBox="1"/>
          <p:nvPr/>
        </p:nvSpPr>
        <p:spPr>
          <a:xfrm>
            <a:off x="9538444" y="35545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1B4B3D-1736-574A-7624-5C42A9253CA8}"/>
              </a:ext>
            </a:extLst>
          </p:cNvPr>
          <p:cNvSpPr txBox="1"/>
          <p:nvPr/>
        </p:nvSpPr>
        <p:spPr>
          <a:xfrm>
            <a:off x="2091304" y="4926353"/>
            <a:ext cx="971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This </a:t>
            </a:r>
            <a:r>
              <a:rPr lang="da-DK" dirty="0" err="1"/>
              <a:t>should</a:t>
            </a:r>
            <a:r>
              <a:rPr lang="da-DK" dirty="0"/>
              <a:t> give the same as: </a:t>
            </a:r>
            <a:r>
              <a:rPr lang="da-DK" dirty="0" err="1"/>
              <a:t>np.sum</a:t>
            </a:r>
            <a:r>
              <a:rPr lang="da-DK" dirty="0"/>
              <a:t>(O2[1:-2] * dx) + </a:t>
            </a:r>
            <a:r>
              <a:rPr lang="da-DK" dirty="0" err="1"/>
              <a:t>np.sum</a:t>
            </a:r>
            <a:r>
              <a:rPr lang="da-DK" dirty="0"/>
              <a:t>(O2[0, -1] * dx/2)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BA1BCB-596E-2AA1-16BC-5A83360FC0A9}"/>
              </a:ext>
            </a:extLst>
          </p:cNvPr>
          <p:cNvSpPr txBox="1"/>
          <p:nvPr/>
        </p:nvSpPr>
        <p:spPr>
          <a:xfrm>
            <a:off x="4389218" y="246836"/>
            <a:ext cx="3413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Calculating</a:t>
            </a:r>
            <a:r>
              <a:rPr lang="da-DK" dirty="0"/>
              <a:t> total </a:t>
            </a:r>
            <a:r>
              <a:rPr lang="da-DK" dirty="0" err="1"/>
              <a:t>mass</a:t>
            </a:r>
            <a:r>
              <a:rPr lang="da-DK" dirty="0"/>
              <a:t> in system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EDC8AA-4FB8-1EB2-77E8-F6688B41568F}"/>
              </a:ext>
            </a:extLst>
          </p:cNvPr>
          <p:cNvSpPr txBox="1"/>
          <p:nvPr/>
        </p:nvSpPr>
        <p:spPr>
          <a:xfrm>
            <a:off x="2452719" y="5577959"/>
            <a:ext cx="7476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Output is O2 </a:t>
            </a:r>
            <a:r>
              <a:rPr lang="da-DK" dirty="0" err="1"/>
              <a:t>mass</a:t>
            </a:r>
            <a:r>
              <a:rPr lang="da-DK" dirty="0"/>
              <a:t> unit / </a:t>
            </a:r>
            <a:r>
              <a:rPr lang="da-DK" dirty="0" err="1"/>
              <a:t>area</a:t>
            </a:r>
            <a:r>
              <a:rPr lang="da-DK" dirty="0"/>
              <a:t> unit. </a:t>
            </a:r>
          </a:p>
          <a:p>
            <a:r>
              <a:rPr lang="da-DK" dirty="0"/>
              <a:t>If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O2 in the </a:t>
            </a:r>
            <a:r>
              <a:rPr lang="da-DK" dirty="0" err="1"/>
              <a:t>whole</a:t>
            </a:r>
            <a:r>
              <a:rPr lang="da-DK" dirty="0"/>
              <a:t> tank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multiply</a:t>
            </a:r>
            <a:r>
              <a:rPr lang="da-DK" dirty="0">
                <a:sym typeface="Wingdings" panose="05000000000000000000" pitchFamily="2" charset="2"/>
              </a:rPr>
              <a:t> by the </a:t>
            </a:r>
            <a:r>
              <a:rPr lang="da-DK" dirty="0" err="1">
                <a:sym typeface="Wingdings" panose="05000000000000000000" pitchFamily="2" charset="2"/>
              </a:rPr>
              <a:t>surface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area</a:t>
            </a:r>
            <a:r>
              <a:rPr lang="da-DK" dirty="0">
                <a:sym typeface="Wingdings" panose="05000000000000000000" pitchFamily="2" charset="2"/>
              </a:rPr>
              <a:t> of the tank</a:t>
            </a:r>
            <a:endParaRPr lang="da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656B99-BD25-0299-FDD9-79F39E08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360" y="2185594"/>
            <a:ext cx="4743099" cy="16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43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97407-7559-1CEC-CF2C-282C5E4CE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01625"/>
            <a:ext cx="11925300" cy="7556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dirty="0" err="1"/>
              <a:t>Does</a:t>
            </a:r>
            <a:r>
              <a:rPr lang="da-DK" dirty="0"/>
              <a:t> </a:t>
            </a:r>
            <a:r>
              <a:rPr lang="da-DK" dirty="0" err="1"/>
              <a:t>calculating</a:t>
            </a:r>
            <a:r>
              <a:rPr lang="da-DK" dirty="0"/>
              <a:t> total </a:t>
            </a:r>
            <a:r>
              <a:rPr lang="da-DK" dirty="0" err="1"/>
              <a:t>mass</a:t>
            </a:r>
            <a:r>
              <a:rPr lang="da-DK" dirty="0"/>
              <a:t> in domain </a:t>
            </a:r>
            <a:r>
              <a:rPr lang="da-DK" dirty="0" err="1"/>
              <a:t>verify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have model </a:t>
            </a:r>
            <a:r>
              <a:rPr lang="da-DK" dirty="0" err="1"/>
              <a:t>conservation</a:t>
            </a:r>
            <a:r>
              <a:rPr lang="da-DK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559F4F-C8A4-A4AC-3193-FD5D8D8F5097}"/>
              </a:ext>
            </a:extLst>
          </p:cNvPr>
          <p:cNvSpPr txBox="1"/>
          <p:nvPr/>
        </p:nvSpPr>
        <p:spPr>
          <a:xfrm>
            <a:off x="623316" y="1390949"/>
            <a:ext cx="10945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Calculate</a:t>
            </a:r>
            <a:r>
              <a:rPr lang="da-DK" dirty="0"/>
              <a:t> flux in and flux out of domain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does</a:t>
            </a:r>
            <a:r>
              <a:rPr lang="da-DK" dirty="0">
                <a:sym typeface="Wingdings" panose="05000000000000000000" pitchFamily="2" charset="2"/>
              </a:rPr>
              <a:t> it </a:t>
            </a:r>
            <a:r>
              <a:rPr lang="da-DK" dirty="0" err="1">
                <a:sym typeface="Wingdings" panose="05000000000000000000" pitchFamily="2" charset="2"/>
              </a:rPr>
              <a:t>equal</a:t>
            </a:r>
            <a:r>
              <a:rPr lang="da-DK" dirty="0">
                <a:sym typeface="Wingdings" panose="05000000000000000000" pitchFamily="2" charset="2"/>
              </a:rPr>
              <a:t> the </a:t>
            </a:r>
            <a:r>
              <a:rPr lang="da-DK" dirty="0" err="1">
                <a:sym typeface="Wingdings" panose="05000000000000000000" pitchFamily="2" charset="2"/>
              </a:rPr>
              <a:t>mass</a:t>
            </a:r>
            <a:r>
              <a:rPr lang="da-DK" dirty="0">
                <a:sym typeface="Wingdings" panose="05000000000000000000" pitchFamily="2" charset="2"/>
              </a:rPr>
              <a:t> in the system? </a:t>
            </a:r>
          </a:p>
          <a:p>
            <a:endParaRPr lang="da-DK" dirty="0">
              <a:sym typeface="Wingdings" panose="05000000000000000000" pitchFamily="2" charset="2"/>
            </a:endParaRPr>
          </a:p>
          <a:p>
            <a:endParaRPr lang="da-DK" dirty="0">
              <a:sym typeface="Wingdings" panose="05000000000000000000" pitchFamily="2" charset="2"/>
            </a:endParaRPr>
          </a:p>
          <a:p>
            <a:endParaRPr lang="da-DK" dirty="0">
              <a:sym typeface="Wingdings" panose="05000000000000000000" pitchFamily="2" charset="2"/>
            </a:endParaRPr>
          </a:p>
          <a:p>
            <a:endParaRPr lang="da-DK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DC3ECE-F461-9EE7-4164-FC6964C61009}"/>
              </a:ext>
            </a:extLst>
          </p:cNvPr>
          <p:cNvCxnSpPr>
            <a:cxnSpLocks/>
          </p:cNvCxnSpPr>
          <p:nvPr/>
        </p:nvCxnSpPr>
        <p:spPr>
          <a:xfrm flipV="1">
            <a:off x="2593474" y="3739218"/>
            <a:ext cx="6766365" cy="19991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E6643A1-35BD-3D58-C79E-30C9227C7649}"/>
              </a:ext>
            </a:extLst>
          </p:cNvPr>
          <p:cNvSpPr txBox="1"/>
          <p:nvPr/>
        </p:nvSpPr>
        <p:spPr>
          <a:xfrm>
            <a:off x="2338641" y="3951581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D103F-D9F8-2BCA-6314-53E7F4F4CC55}"/>
              </a:ext>
            </a:extLst>
          </p:cNvPr>
          <p:cNvSpPr txBox="1"/>
          <p:nvPr/>
        </p:nvSpPr>
        <p:spPr>
          <a:xfrm>
            <a:off x="3450411" y="3951581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c[1]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6BF58-1261-D8CB-35DC-ED82FDA72586}"/>
              </a:ext>
            </a:extLst>
          </p:cNvPr>
          <p:cNvSpPr txBox="1"/>
          <p:nvPr/>
        </p:nvSpPr>
        <p:spPr>
          <a:xfrm>
            <a:off x="8874354" y="3947616"/>
            <a:ext cx="7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c[-1]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6947F8-1AC2-6281-3F4B-8B770409E490}"/>
              </a:ext>
            </a:extLst>
          </p:cNvPr>
          <p:cNvCxnSpPr/>
          <p:nvPr/>
        </p:nvCxnSpPr>
        <p:spPr>
          <a:xfrm>
            <a:off x="2593474" y="3654279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D2FB9D-8555-6218-916D-2C3D34F4653C}"/>
              </a:ext>
            </a:extLst>
          </p:cNvPr>
          <p:cNvCxnSpPr/>
          <p:nvPr/>
        </p:nvCxnSpPr>
        <p:spPr>
          <a:xfrm>
            <a:off x="9236618" y="3656779"/>
            <a:ext cx="0" cy="19487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D5E8F5-5A22-2D94-04A3-1B3314667662}"/>
                  </a:ext>
                </a:extLst>
              </p:cNvPr>
              <p:cNvSpPr txBox="1"/>
              <p:nvPr/>
            </p:nvSpPr>
            <p:spPr>
              <a:xfrm>
                <a:off x="1826533" y="2465305"/>
                <a:ext cx="1245341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D5E8F5-5A22-2D94-04A3-1B3314667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533" y="2465305"/>
                <a:ext cx="1245341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2CB2DC-D2D3-90F9-D5D8-75CF795D08BE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49204" y="2991218"/>
            <a:ext cx="144270" cy="574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83FAA5-9225-A621-BAB2-3931517ED1F5}"/>
                  </a:ext>
                </a:extLst>
              </p:cNvPr>
              <p:cNvSpPr txBox="1"/>
              <p:nvPr/>
            </p:nvSpPr>
            <p:spPr>
              <a:xfrm>
                <a:off x="8448628" y="2465305"/>
                <a:ext cx="1360757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83FAA5-9225-A621-BAB2-3931517ED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628" y="2465305"/>
                <a:ext cx="1360757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8A9AF0-D89F-2D66-0E16-0DF53D648225}"/>
              </a:ext>
            </a:extLst>
          </p:cNvPr>
          <p:cNvCxnSpPr>
            <a:cxnSpLocks/>
          </p:cNvCxnSpPr>
          <p:nvPr/>
        </p:nvCxnSpPr>
        <p:spPr>
          <a:xfrm>
            <a:off x="9236618" y="3025485"/>
            <a:ext cx="12489" cy="540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D3A828-940B-1AB8-A6EF-6DE1B76F5C35}"/>
                  </a:ext>
                </a:extLst>
              </p:cNvPr>
              <p:cNvSpPr txBox="1"/>
              <p:nvPr/>
            </p:nvSpPr>
            <p:spPr>
              <a:xfrm>
                <a:off x="5139897" y="4924876"/>
                <a:ext cx="6291402" cy="28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𝑐𝑢𝑚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𝑐𝑢𝑚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𝑎𝑐𝑐𝑢𝑚𝑢𝑙𝑎𝑡𝑒𝑑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𝑠𝑦𝑠𝑡𝑒𝑚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𝑤𝑖𝑡h𝑜𝑢𝑡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𝑟𝑒𝑎𝑐𝑡𝑖𝑜𝑛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D3A828-940B-1AB8-A6EF-6DE1B76F5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897" y="4924876"/>
                <a:ext cx="6291402" cy="286297"/>
              </a:xfrm>
              <a:prstGeom prst="rect">
                <a:avLst/>
              </a:prstGeom>
              <a:blipFill>
                <a:blip r:embed="rId4"/>
                <a:stretch>
                  <a:fillRect l="-775" r="-581" b="-2766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909E362-434A-A146-FA39-066B4AB38CA8}"/>
              </a:ext>
            </a:extLst>
          </p:cNvPr>
          <p:cNvSpPr txBox="1"/>
          <p:nvPr/>
        </p:nvSpPr>
        <p:spPr>
          <a:xfrm>
            <a:off x="623316" y="4883358"/>
            <a:ext cx="80427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Flux is </a:t>
            </a:r>
            <a:r>
              <a:rPr lang="da-DK" dirty="0" err="1"/>
              <a:t>instant</a:t>
            </a:r>
            <a:r>
              <a:rPr lang="da-DK" dirty="0"/>
              <a:t> at </a:t>
            </a:r>
            <a:r>
              <a:rPr lang="da-DK" dirty="0" err="1"/>
              <a:t>some</a:t>
            </a:r>
            <a:r>
              <a:rPr lang="da-DK" dirty="0"/>
              <a:t> x position [g/m2/s]</a:t>
            </a:r>
          </a:p>
          <a:p>
            <a:r>
              <a:rPr lang="da-DK" dirty="0" err="1"/>
              <a:t>Cumulative</a:t>
            </a:r>
            <a:r>
              <a:rPr lang="da-DK" dirty="0"/>
              <a:t> flux unit = [</a:t>
            </a:r>
            <a:r>
              <a:rPr lang="da-DK" dirty="0" err="1"/>
              <a:t>mass</a:t>
            </a:r>
            <a:r>
              <a:rPr lang="da-DK" dirty="0"/>
              <a:t>/</a:t>
            </a:r>
            <a:r>
              <a:rPr lang="da-DK" dirty="0" err="1"/>
              <a:t>area</a:t>
            </a:r>
            <a:r>
              <a:rPr lang="da-DK" dirty="0"/>
              <a:t>]. </a:t>
            </a:r>
          </a:p>
          <a:p>
            <a:endParaRPr lang="da-DK" dirty="0"/>
          </a:p>
          <a:p>
            <a:r>
              <a:rPr lang="da-DK" dirty="0" err="1"/>
              <a:t>Cumulative</a:t>
            </a:r>
            <a:r>
              <a:rPr lang="da-DK" dirty="0"/>
              <a:t> flux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integrate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fluxes</a:t>
            </a:r>
            <a:r>
              <a:rPr lang="da-DK" dirty="0">
                <a:sym typeface="Wingdings" panose="05000000000000000000" pitchFamily="2" charset="2"/>
              </a:rPr>
              <a:t> with </a:t>
            </a:r>
            <a:r>
              <a:rPr lang="da-DK" dirty="0" err="1">
                <a:sym typeface="Wingdings" panose="05000000000000000000" pitchFamily="2" charset="2"/>
              </a:rPr>
              <a:t>respect</a:t>
            </a:r>
            <a:r>
              <a:rPr lang="da-DK" dirty="0">
                <a:sym typeface="Wingdings" panose="05000000000000000000" pitchFamily="2" charset="2"/>
              </a:rPr>
              <a:t> to time  </a:t>
            </a:r>
            <a:r>
              <a:rPr lang="da-DK" dirty="0" err="1">
                <a:sym typeface="Wingdings" panose="05000000000000000000" pitchFamily="2" charset="2"/>
              </a:rPr>
              <a:t>np.trapz</a:t>
            </a:r>
            <a:r>
              <a:rPr lang="da-DK" dirty="0">
                <a:sym typeface="Wingdings" panose="05000000000000000000" pitchFamily="2" charset="2"/>
              </a:rPr>
              <a:t>(</a:t>
            </a:r>
            <a:r>
              <a:rPr lang="da-DK" dirty="0" err="1">
                <a:sym typeface="Wingdings" panose="05000000000000000000" pitchFamily="2" charset="2"/>
              </a:rPr>
              <a:t>fluxes</a:t>
            </a:r>
            <a:r>
              <a:rPr lang="da-DK" dirty="0">
                <a:sym typeface="Wingdings" panose="05000000000000000000" pitchFamily="2" charset="2"/>
              </a:rPr>
              <a:t>, time)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1628271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77ECF-6737-35E7-4BFB-3369E4664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042" y="-77242"/>
            <a:ext cx="10515600" cy="1325563"/>
          </a:xfrm>
        </p:spPr>
        <p:txBody>
          <a:bodyPr/>
          <a:lstStyle/>
          <a:p>
            <a:r>
              <a:rPr lang="da-DK" dirty="0"/>
              <a:t>Handling 2 </a:t>
            </a:r>
            <a:r>
              <a:rPr lang="da-DK" dirty="0" err="1"/>
              <a:t>state</a:t>
            </a:r>
            <a:r>
              <a:rPr lang="da-DK" dirty="0"/>
              <a:t>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06010-47DE-1061-20DA-104DFAB600A0}"/>
              </a:ext>
            </a:extLst>
          </p:cNvPr>
          <p:cNvSpPr txBox="1"/>
          <p:nvPr/>
        </p:nvSpPr>
        <p:spPr>
          <a:xfrm>
            <a:off x="1640205" y="872133"/>
            <a:ext cx="900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Flatten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good</a:t>
            </a:r>
            <a:r>
              <a:rPr lang="da-DK" dirty="0"/>
              <a:t> for 2D arrays. It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works</a:t>
            </a:r>
            <a:r>
              <a:rPr lang="da-DK" dirty="0"/>
              <a:t> for 1D, but output is not </a:t>
            </a:r>
            <a:r>
              <a:rPr lang="da-DK" dirty="0" err="1"/>
              <a:t>that</a:t>
            </a:r>
            <a:r>
              <a:rPr lang="da-DK" dirty="0"/>
              <a:t> intuitive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B9A5B-9F44-B1B6-8F56-2B0B4192F6AB}"/>
              </a:ext>
            </a:extLst>
          </p:cNvPr>
          <p:cNvSpPr txBox="1"/>
          <p:nvPr/>
        </p:nvSpPr>
        <p:spPr>
          <a:xfrm>
            <a:off x="2914650" y="1889467"/>
            <a:ext cx="3277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         0    1    2   3</a:t>
            </a:r>
          </a:p>
          <a:p>
            <a:r>
              <a:rPr lang="da-DK" dirty="0"/>
              <a:t>0     </a:t>
            </a:r>
            <a:r>
              <a:rPr lang="da-DK" sz="1000" dirty="0"/>
              <a:t>[0,0]  [0,1]  [0,2]  [0,3]</a:t>
            </a:r>
            <a:endParaRPr lang="da-DK" dirty="0"/>
          </a:p>
          <a:p>
            <a:r>
              <a:rPr lang="da-DK" dirty="0"/>
              <a:t>1     </a:t>
            </a:r>
            <a:r>
              <a:rPr lang="da-DK" sz="1000" dirty="0"/>
              <a:t>[1,0]  [1,1]  [1,2]  [1,3]</a:t>
            </a:r>
          </a:p>
          <a:p>
            <a:r>
              <a:rPr lang="da-DK" dirty="0"/>
              <a:t>2     </a:t>
            </a:r>
            <a:r>
              <a:rPr lang="da-DK" sz="1000" dirty="0"/>
              <a:t>[2,0]  [2,1]  [2,2]  [2,3]</a:t>
            </a:r>
          </a:p>
          <a:p>
            <a:r>
              <a:rPr lang="da-DK" dirty="0"/>
              <a:t>3     </a:t>
            </a:r>
            <a:r>
              <a:rPr lang="da-DK" sz="1000" dirty="0"/>
              <a:t>[3,0]  [3,1]  [3,2]  [3,3]</a:t>
            </a:r>
          </a:p>
          <a:p>
            <a:r>
              <a:rPr lang="da-DK" dirty="0"/>
              <a:t>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8373B2-D2B2-27C9-1D58-4D5F35CD44C0}"/>
              </a:ext>
            </a:extLst>
          </p:cNvPr>
          <p:cNvCxnSpPr/>
          <p:nvPr/>
        </p:nvCxnSpPr>
        <p:spPr>
          <a:xfrm>
            <a:off x="2843660" y="2221423"/>
            <a:ext cx="0" cy="1089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45B3B2-174B-97B5-287B-A6EBB936CE38}"/>
              </a:ext>
            </a:extLst>
          </p:cNvPr>
          <p:cNvCxnSpPr>
            <a:cxnSpLocks/>
          </p:cNvCxnSpPr>
          <p:nvPr/>
        </p:nvCxnSpPr>
        <p:spPr>
          <a:xfrm>
            <a:off x="3280667" y="1788607"/>
            <a:ext cx="1272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F2CDC3-D93C-65F2-8D8E-6A326CAA451D}"/>
              </a:ext>
            </a:extLst>
          </p:cNvPr>
          <p:cNvSpPr txBox="1"/>
          <p:nvPr/>
        </p:nvSpPr>
        <p:spPr>
          <a:xfrm>
            <a:off x="4655753" y="160394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A9195-8C05-7301-D2A8-247B97F7DC57}"/>
              </a:ext>
            </a:extLst>
          </p:cNvPr>
          <p:cNvSpPr txBox="1"/>
          <p:nvPr/>
        </p:nvSpPr>
        <p:spPr>
          <a:xfrm>
            <a:off x="2700832" y="3364162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94B6B-1856-8633-FE2B-9E523DCD240A}"/>
              </a:ext>
            </a:extLst>
          </p:cNvPr>
          <p:cNvSpPr txBox="1"/>
          <p:nvPr/>
        </p:nvSpPr>
        <p:spPr>
          <a:xfrm>
            <a:off x="3135067" y="1276512"/>
            <a:ext cx="1396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The 2D case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20AF-C2A9-79D4-71EE-E2F22420BC4E}"/>
              </a:ext>
            </a:extLst>
          </p:cNvPr>
          <p:cNvSpPr txBox="1"/>
          <p:nvPr/>
        </p:nvSpPr>
        <p:spPr>
          <a:xfrm>
            <a:off x="5663672" y="1248321"/>
            <a:ext cx="3288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The 1D case with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</a:t>
            </a:r>
            <a:r>
              <a:rPr lang="da-DK" dirty="0" err="1"/>
              <a:t>vars</a:t>
            </a:r>
            <a:endParaRPr lang="da-DK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D9B1C8-0E6F-1646-EA9F-17744ACCF8E8}"/>
              </a:ext>
            </a:extLst>
          </p:cNvPr>
          <p:cNvCxnSpPr/>
          <p:nvPr/>
        </p:nvCxnSpPr>
        <p:spPr>
          <a:xfrm>
            <a:off x="6406342" y="2221423"/>
            <a:ext cx="0" cy="1089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D6E23C-3992-3D2D-969A-9CD72AF5C0AC}"/>
              </a:ext>
            </a:extLst>
          </p:cNvPr>
          <p:cNvCxnSpPr>
            <a:cxnSpLocks/>
          </p:cNvCxnSpPr>
          <p:nvPr/>
        </p:nvCxnSpPr>
        <p:spPr>
          <a:xfrm>
            <a:off x="6843349" y="1788607"/>
            <a:ext cx="1272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4A32FD6-D5CC-BBBF-88D3-6C5B0543F5F3}"/>
              </a:ext>
            </a:extLst>
          </p:cNvPr>
          <p:cNvSpPr txBox="1"/>
          <p:nvPr/>
        </p:nvSpPr>
        <p:spPr>
          <a:xfrm>
            <a:off x="8218435" y="1603941"/>
            <a:ext cx="165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State variables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CC04B5-2C1A-DAEC-0DF0-4D7269B0C4A6}"/>
              </a:ext>
            </a:extLst>
          </p:cNvPr>
          <p:cNvSpPr txBox="1"/>
          <p:nvPr/>
        </p:nvSpPr>
        <p:spPr>
          <a:xfrm>
            <a:off x="6263514" y="3364162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980F3A-5B27-2FA5-4DF0-6A4972DBB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466"/>
          <a:stretch>
            <a:fillRect/>
          </a:stretch>
        </p:blipFill>
        <p:spPr>
          <a:xfrm>
            <a:off x="6568495" y="1857510"/>
            <a:ext cx="1096658" cy="17862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DAEF43B-AADE-D5E6-2D64-6D9A36D2525E}"/>
              </a:ext>
            </a:extLst>
          </p:cNvPr>
          <p:cNvSpPr txBox="1"/>
          <p:nvPr/>
        </p:nvSpPr>
        <p:spPr>
          <a:xfrm>
            <a:off x="419100" y="2503002"/>
            <a:ext cx="164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flatten</a:t>
            </a:r>
            <a:r>
              <a:rPr lang="da-DK" dirty="0"/>
              <a:t>: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113997-5383-CF65-3F6F-A8DEC4DDE1FD}"/>
              </a:ext>
            </a:extLst>
          </p:cNvPr>
          <p:cNvSpPr txBox="1"/>
          <p:nvPr/>
        </p:nvSpPr>
        <p:spPr>
          <a:xfrm>
            <a:off x="419100" y="3803164"/>
            <a:ext cx="1470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After</a:t>
            </a:r>
            <a:r>
              <a:rPr lang="da-DK" dirty="0"/>
              <a:t> </a:t>
            </a:r>
            <a:r>
              <a:rPr lang="da-DK" dirty="0" err="1"/>
              <a:t>flatten</a:t>
            </a:r>
            <a:r>
              <a:rPr lang="da-DK" dirty="0"/>
              <a:t>: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DBBBA2-E330-1D73-8FDA-847EEA3CE3E4}"/>
              </a:ext>
            </a:extLst>
          </p:cNvPr>
          <p:cNvSpPr/>
          <p:nvPr/>
        </p:nvSpPr>
        <p:spPr>
          <a:xfrm>
            <a:off x="3718599" y="5832034"/>
            <a:ext cx="264678" cy="71016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23D7AF-57F2-CF4E-8F80-BAE77E220C4A}"/>
              </a:ext>
            </a:extLst>
          </p:cNvPr>
          <p:cNvSpPr/>
          <p:nvPr/>
        </p:nvSpPr>
        <p:spPr>
          <a:xfrm>
            <a:off x="3712543" y="5117820"/>
            <a:ext cx="264678" cy="71016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B283A3-034D-65B1-31F1-523FA465C752}"/>
              </a:ext>
            </a:extLst>
          </p:cNvPr>
          <p:cNvSpPr/>
          <p:nvPr/>
        </p:nvSpPr>
        <p:spPr>
          <a:xfrm>
            <a:off x="3712543" y="4386512"/>
            <a:ext cx="264678" cy="72604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A346B8-9571-A0CC-7C64-5357BE1E0EC3}"/>
              </a:ext>
            </a:extLst>
          </p:cNvPr>
          <p:cNvSpPr/>
          <p:nvPr/>
        </p:nvSpPr>
        <p:spPr>
          <a:xfrm>
            <a:off x="3711614" y="3643813"/>
            <a:ext cx="264678" cy="7260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76DF31-264F-421D-90EC-163B1E8B3395}"/>
              </a:ext>
            </a:extLst>
          </p:cNvPr>
          <p:cNvSpPr txBox="1"/>
          <p:nvPr/>
        </p:nvSpPr>
        <p:spPr>
          <a:xfrm>
            <a:off x="4252863" y="377008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 = 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3E1C55-9154-CE65-6585-9D9630AB70D5}"/>
              </a:ext>
            </a:extLst>
          </p:cNvPr>
          <p:cNvSpPr txBox="1"/>
          <p:nvPr/>
        </p:nvSpPr>
        <p:spPr>
          <a:xfrm>
            <a:off x="4250891" y="4561429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 =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479832-C4B5-19D7-3EB5-A0AE708B2784}"/>
              </a:ext>
            </a:extLst>
          </p:cNvPr>
          <p:cNvSpPr txBox="1"/>
          <p:nvPr/>
        </p:nvSpPr>
        <p:spPr>
          <a:xfrm>
            <a:off x="4255004" y="528635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 =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7A8C8F-4972-5B95-24DA-4B7C3FDC6849}"/>
              </a:ext>
            </a:extLst>
          </p:cNvPr>
          <p:cNvSpPr txBox="1"/>
          <p:nvPr/>
        </p:nvSpPr>
        <p:spPr>
          <a:xfrm>
            <a:off x="4250890" y="600968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 = 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39ACB2-A415-6525-4985-09B8574F2C26}"/>
              </a:ext>
            </a:extLst>
          </p:cNvPr>
          <p:cNvSpPr txBox="1"/>
          <p:nvPr/>
        </p:nvSpPr>
        <p:spPr>
          <a:xfrm>
            <a:off x="3137891" y="3526342"/>
            <a:ext cx="5293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r = 0</a:t>
            </a:r>
          </a:p>
          <a:p>
            <a:r>
              <a:rPr lang="da-DK" sz="1400" dirty="0"/>
              <a:t>r = 1</a:t>
            </a:r>
          </a:p>
          <a:p>
            <a:r>
              <a:rPr lang="da-DK" sz="1400" dirty="0"/>
              <a:t>r = 2</a:t>
            </a:r>
          </a:p>
          <a:p>
            <a:r>
              <a:rPr lang="da-DK" sz="1400" dirty="0"/>
              <a:t>r = 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1C184B-29FF-525E-D55E-DF38525EB3AA}"/>
              </a:ext>
            </a:extLst>
          </p:cNvPr>
          <p:cNvSpPr txBox="1"/>
          <p:nvPr/>
        </p:nvSpPr>
        <p:spPr>
          <a:xfrm>
            <a:off x="3609855" y="3619107"/>
            <a:ext cx="820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[0,0]</a:t>
            </a:r>
          </a:p>
          <a:p>
            <a:r>
              <a:rPr lang="da-DK" sz="1100" dirty="0"/>
              <a:t>[0,1]</a:t>
            </a:r>
          </a:p>
          <a:p>
            <a:r>
              <a:rPr lang="da-DK" sz="1100" dirty="0"/>
              <a:t>[0,2]</a:t>
            </a:r>
          </a:p>
          <a:p>
            <a:r>
              <a:rPr lang="da-DK" sz="1100" dirty="0"/>
              <a:t>[0,3]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7225D2-56B8-87F8-F40F-41BDE91AB3E2}"/>
              </a:ext>
            </a:extLst>
          </p:cNvPr>
          <p:cNvSpPr txBox="1"/>
          <p:nvPr/>
        </p:nvSpPr>
        <p:spPr>
          <a:xfrm>
            <a:off x="3616307" y="4357610"/>
            <a:ext cx="820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[1,0]</a:t>
            </a:r>
          </a:p>
          <a:p>
            <a:r>
              <a:rPr lang="da-DK" sz="1100" dirty="0"/>
              <a:t>[1,1]</a:t>
            </a:r>
          </a:p>
          <a:p>
            <a:r>
              <a:rPr lang="da-DK" sz="1100" dirty="0"/>
              <a:t>[1,2]</a:t>
            </a:r>
          </a:p>
          <a:p>
            <a:r>
              <a:rPr lang="da-DK" sz="1100" dirty="0"/>
              <a:t>[1,3]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D9F457-8186-21A4-22F2-C64D551C1792}"/>
              </a:ext>
            </a:extLst>
          </p:cNvPr>
          <p:cNvSpPr txBox="1"/>
          <p:nvPr/>
        </p:nvSpPr>
        <p:spPr>
          <a:xfrm>
            <a:off x="3636464" y="5099066"/>
            <a:ext cx="820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[2,0]</a:t>
            </a:r>
          </a:p>
          <a:p>
            <a:r>
              <a:rPr lang="da-DK" sz="1100" dirty="0"/>
              <a:t>[2,1]</a:t>
            </a:r>
          </a:p>
          <a:p>
            <a:r>
              <a:rPr lang="da-DK" sz="1100" dirty="0"/>
              <a:t>[2,2]</a:t>
            </a:r>
          </a:p>
          <a:p>
            <a:r>
              <a:rPr lang="da-DK" sz="1100" dirty="0"/>
              <a:t>[2,3]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9DB1AC-08B3-2C33-05C4-63BBF89FE442}"/>
              </a:ext>
            </a:extLst>
          </p:cNvPr>
          <p:cNvSpPr txBox="1"/>
          <p:nvPr/>
        </p:nvSpPr>
        <p:spPr>
          <a:xfrm>
            <a:off x="3624980" y="5803879"/>
            <a:ext cx="820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[3,0]</a:t>
            </a:r>
          </a:p>
          <a:p>
            <a:r>
              <a:rPr lang="da-DK" sz="1100" dirty="0"/>
              <a:t>[3,1]</a:t>
            </a:r>
          </a:p>
          <a:p>
            <a:r>
              <a:rPr lang="da-DK" sz="1100" dirty="0"/>
              <a:t>[3,2]</a:t>
            </a:r>
          </a:p>
          <a:p>
            <a:r>
              <a:rPr lang="da-DK" sz="1100" dirty="0"/>
              <a:t>[3,3]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4AE150-A2A6-05D2-1A47-BCC7B79DFA6C}"/>
              </a:ext>
            </a:extLst>
          </p:cNvPr>
          <p:cNvSpPr txBox="1"/>
          <p:nvPr/>
        </p:nvSpPr>
        <p:spPr>
          <a:xfrm>
            <a:off x="7761890" y="3787775"/>
            <a:ext cx="82025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[0,0]</a:t>
            </a:r>
          </a:p>
          <a:p>
            <a:r>
              <a:rPr lang="da-DK" sz="1100" dirty="0"/>
              <a:t>[0,1]</a:t>
            </a:r>
          </a:p>
          <a:p>
            <a:r>
              <a:rPr lang="da-DK" sz="1100" dirty="0"/>
              <a:t>[1,0]</a:t>
            </a:r>
          </a:p>
          <a:p>
            <a:r>
              <a:rPr lang="da-DK" sz="1100" dirty="0"/>
              <a:t>[1,1]</a:t>
            </a:r>
          </a:p>
          <a:p>
            <a:r>
              <a:rPr lang="da-DK" sz="1100" dirty="0"/>
              <a:t>[2,0]</a:t>
            </a:r>
          </a:p>
          <a:p>
            <a:r>
              <a:rPr lang="da-DK" sz="1100" dirty="0"/>
              <a:t>[2,1]</a:t>
            </a:r>
          </a:p>
          <a:p>
            <a:r>
              <a:rPr lang="da-DK" sz="1100" dirty="0"/>
              <a:t>[3,0]</a:t>
            </a:r>
          </a:p>
          <a:p>
            <a:r>
              <a:rPr lang="da-DK" sz="1100" dirty="0"/>
              <a:t>[3,1]</a:t>
            </a:r>
          </a:p>
          <a:p>
            <a:endParaRPr lang="da-DK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02B030-3E3B-48DF-0936-5712F6BD02F1}"/>
              </a:ext>
            </a:extLst>
          </p:cNvPr>
          <p:cNvSpPr txBox="1"/>
          <p:nvPr/>
        </p:nvSpPr>
        <p:spPr>
          <a:xfrm>
            <a:off x="6682520" y="3795772"/>
            <a:ext cx="116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State variable 1</a:t>
            </a:r>
          </a:p>
          <a:p>
            <a:r>
              <a:rPr lang="da-DK" sz="1100" dirty="0"/>
              <a:t>State variable 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A1A899-9B28-E27D-D027-CDA99B6C61D8}"/>
              </a:ext>
            </a:extLst>
          </p:cNvPr>
          <p:cNvSpPr txBox="1"/>
          <p:nvPr/>
        </p:nvSpPr>
        <p:spPr>
          <a:xfrm>
            <a:off x="6682520" y="4120615"/>
            <a:ext cx="116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State variable 1</a:t>
            </a:r>
          </a:p>
          <a:p>
            <a:r>
              <a:rPr lang="da-DK" sz="1100" dirty="0"/>
              <a:t>State variable 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33ADE9-53F0-454C-D704-27463F24DB8E}"/>
              </a:ext>
            </a:extLst>
          </p:cNvPr>
          <p:cNvSpPr txBox="1"/>
          <p:nvPr/>
        </p:nvSpPr>
        <p:spPr>
          <a:xfrm>
            <a:off x="6682520" y="4445458"/>
            <a:ext cx="116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State variable 1</a:t>
            </a:r>
          </a:p>
          <a:p>
            <a:r>
              <a:rPr lang="da-DK" sz="1100" dirty="0"/>
              <a:t>State variable 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0DD29-5911-AAAE-FCD0-16C4682B5EA1}"/>
              </a:ext>
            </a:extLst>
          </p:cNvPr>
          <p:cNvSpPr txBox="1"/>
          <p:nvPr/>
        </p:nvSpPr>
        <p:spPr>
          <a:xfrm>
            <a:off x="6702677" y="4802671"/>
            <a:ext cx="116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State variable 1</a:t>
            </a:r>
          </a:p>
          <a:p>
            <a:r>
              <a:rPr lang="da-DK" sz="1100" dirty="0"/>
              <a:t>State variable 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C10E4E-47B5-E59F-A842-F129082B034A}"/>
              </a:ext>
            </a:extLst>
          </p:cNvPr>
          <p:cNvSpPr txBox="1"/>
          <p:nvPr/>
        </p:nvSpPr>
        <p:spPr>
          <a:xfrm>
            <a:off x="8301499" y="3779301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 = 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C72815-D6FD-3E7F-2BFA-333A7F63A69C}"/>
              </a:ext>
            </a:extLst>
          </p:cNvPr>
          <p:cNvSpPr txBox="1"/>
          <p:nvPr/>
        </p:nvSpPr>
        <p:spPr>
          <a:xfrm>
            <a:off x="8301499" y="4132526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 =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A45206-1F16-5905-4775-913BD24C04FE}"/>
              </a:ext>
            </a:extLst>
          </p:cNvPr>
          <p:cNvSpPr txBox="1"/>
          <p:nvPr/>
        </p:nvSpPr>
        <p:spPr>
          <a:xfrm>
            <a:off x="8301499" y="4476235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 =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B34CCF-A3AA-B233-035D-D8ABBEDC0A86}"/>
              </a:ext>
            </a:extLst>
          </p:cNvPr>
          <p:cNvSpPr txBox="1"/>
          <p:nvPr/>
        </p:nvSpPr>
        <p:spPr>
          <a:xfrm>
            <a:off x="8301499" y="4801110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 = 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D1EBE7-7994-40E6-8911-9960F601E9DB}"/>
              </a:ext>
            </a:extLst>
          </p:cNvPr>
          <p:cNvSpPr txBox="1"/>
          <p:nvPr/>
        </p:nvSpPr>
        <p:spPr>
          <a:xfrm>
            <a:off x="6036841" y="5271020"/>
            <a:ext cx="57803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Inspect</a:t>
            </a:r>
            <a:r>
              <a:rPr lang="da-DK" dirty="0"/>
              <a:t> and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rows</a:t>
            </a:r>
            <a:r>
              <a:rPr lang="da-DK" dirty="0"/>
              <a:t> and columns </a:t>
            </a:r>
            <a:r>
              <a:rPr lang="da-DK" dirty="0" err="1"/>
              <a:t>through</a:t>
            </a:r>
            <a:r>
              <a:rPr lang="da-DK" dirty="0"/>
              <a:t> the </a:t>
            </a:r>
          </a:p>
          <a:p>
            <a:r>
              <a:rPr lang="da-DK" dirty="0"/>
              <a:t>variable </a:t>
            </a:r>
            <a:r>
              <a:rPr lang="da-DK" dirty="0" err="1"/>
              <a:t>explorer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sure </a:t>
            </a:r>
            <a:r>
              <a:rPr lang="da-DK" dirty="0" err="1"/>
              <a:t>you</a:t>
            </a:r>
            <a:r>
              <a:rPr lang="da-DK" dirty="0"/>
              <a:t> understand it. </a:t>
            </a:r>
          </a:p>
          <a:p>
            <a:endParaRPr lang="da-DK" dirty="0"/>
          </a:p>
          <a:p>
            <a:r>
              <a:rPr lang="da-DK" dirty="0"/>
              <a:t>Output from </a:t>
            </a:r>
            <a:r>
              <a:rPr lang="da-DK" dirty="0" err="1"/>
              <a:t>solve_ivp</a:t>
            </a:r>
            <a:r>
              <a:rPr lang="da-DK" dirty="0"/>
              <a:t>() gives time </a:t>
            </a:r>
            <a:r>
              <a:rPr lang="da-DK" dirty="0" err="1"/>
              <a:t>along</a:t>
            </a:r>
            <a:r>
              <a:rPr lang="da-DK" dirty="0"/>
              <a:t> the columns!</a:t>
            </a:r>
          </a:p>
        </p:txBody>
      </p:sp>
    </p:spTree>
    <p:extLst>
      <p:ext uri="{BB962C8B-B14F-4D97-AF65-F5344CB8AC3E}">
        <p14:creationId xmlns:p14="http://schemas.microsoft.com/office/powerpoint/2010/main" val="36353319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A26A-7123-3980-14F5-453C6F6D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Alternative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9CCD7-2450-134E-DD67-C748C0F94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398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See </a:t>
            </a:r>
            <a:r>
              <a:rPr lang="da-DK" dirty="0" err="1"/>
              <a:t>group</a:t>
            </a:r>
            <a:r>
              <a:rPr lang="da-DK" dirty="0"/>
              <a:t> </a:t>
            </a:r>
            <a:r>
              <a:rPr lang="da-DK" dirty="0" err="1"/>
              <a:t>exercise</a:t>
            </a:r>
            <a:r>
              <a:rPr lang="da-DK" dirty="0"/>
              <a:t> 6 solution under 09_23_sept</a:t>
            </a:r>
          </a:p>
          <a:p>
            <a:pPr marL="0" indent="0">
              <a:buNone/>
            </a:pPr>
            <a:r>
              <a:rPr lang="da-DK" dirty="0" err="1"/>
              <a:t>Use</a:t>
            </a:r>
            <a:r>
              <a:rPr lang="da-DK" dirty="0"/>
              <a:t> of </a:t>
            </a:r>
            <a:r>
              <a:rPr lang="da-DK" dirty="0" err="1"/>
              <a:t>np.concatenate</a:t>
            </a:r>
            <a:r>
              <a:rPr lang="da-DK" dirty="0"/>
              <a:t>()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O2 = </a:t>
            </a:r>
            <a:r>
              <a:rPr lang="da-DK" dirty="0" err="1"/>
              <a:t>np.zeros</a:t>
            </a:r>
            <a:r>
              <a:rPr lang="da-DK" dirty="0"/>
              <a:t>(len(</a:t>
            </a:r>
            <a:r>
              <a:rPr lang="da-DK" dirty="0" err="1"/>
              <a:t>x_grid</a:t>
            </a:r>
            <a:r>
              <a:rPr lang="da-DK" dirty="0"/>
              <a:t>)) = [0,0,0,0,0,0…]</a:t>
            </a:r>
          </a:p>
          <a:p>
            <a:pPr marL="0" indent="0">
              <a:buNone/>
            </a:pPr>
            <a:r>
              <a:rPr lang="da-DK" dirty="0"/>
              <a:t>OM = </a:t>
            </a:r>
            <a:r>
              <a:rPr lang="da-DK" dirty="0" err="1"/>
              <a:t>np.zeros</a:t>
            </a:r>
            <a:r>
              <a:rPr lang="da-DK" dirty="0"/>
              <a:t>(len(</a:t>
            </a:r>
            <a:r>
              <a:rPr lang="da-DK" dirty="0" err="1"/>
              <a:t>x_grid</a:t>
            </a:r>
            <a:r>
              <a:rPr lang="da-DK" dirty="0"/>
              <a:t>)) = [0,0,0,0,0,0…]</a:t>
            </a:r>
          </a:p>
          <a:p>
            <a:pPr marL="0" indent="0">
              <a:buNone/>
            </a:pPr>
            <a:r>
              <a:rPr lang="da-DK" dirty="0"/>
              <a:t>C0 = </a:t>
            </a:r>
            <a:r>
              <a:rPr lang="da-DK" dirty="0" err="1"/>
              <a:t>np.concatenate</a:t>
            </a:r>
            <a:r>
              <a:rPr lang="da-DK" dirty="0"/>
              <a:t>([O2, OM]) = [0,0,0,0,0,0…0,0,0,0,0,0…]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07507-4E8C-4440-0EDF-A4C79231FFBC}"/>
              </a:ext>
            </a:extLst>
          </p:cNvPr>
          <p:cNvSpPr txBox="1"/>
          <p:nvPr/>
        </p:nvSpPr>
        <p:spPr>
          <a:xfrm>
            <a:off x="6858000" y="4590960"/>
            <a:ext cx="60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/>
              <a:t>O2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8B544-C0A8-FF8B-F25D-80A6FAA2783E}"/>
              </a:ext>
            </a:extLst>
          </p:cNvPr>
          <p:cNvSpPr txBox="1"/>
          <p:nvPr/>
        </p:nvSpPr>
        <p:spPr>
          <a:xfrm>
            <a:off x="8843962" y="4590960"/>
            <a:ext cx="60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/>
              <a:t>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797C4-DC2E-9E29-E9EF-3B67A6738A52}"/>
              </a:ext>
            </a:extLst>
          </p:cNvPr>
          <p:cNvSpPr txBox="1"/>
          <p:nvPr/>
        </p:nvSpPr>
        <p:spPr>
          <a:xfrm>
            <a:off x="4613528" y="5067270"/>
            <a:ext cx="116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State variable 1</a:t>
            </a:r>
          </a:p>
          <a:p>
            <a:r>
              <a:rPr lang="da-DK" sz="1100" dirty="0"/>
              <a:t>State variable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2FC40-E9D8-632E-0F0F-CD589857F63E}"/>
              </a:ext>
            </a:extLst>
          </p:cNvPr>
          <p:cNvSpPr txBox="1"/>
          <p:nvPr/>
        </p:nvSpPr>
        <p:spPr>
          <a:xfrm>
            <a:off x="4613528" y="5392113"/>
            <a:ext cx="116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State variable 1</a:t>
            </a:r>
          </a:p>
          <a:p>
            <a:r>
              <a:rPr lang="da-DK" sz="1100" dirty="0"/>
              <a:t>State variable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9067F-62D3-D524-DBE1-F35965FC3384}"/>
              </a:ext>
            </a:extLst>
          </p:cNvPr>
          <p:cNvSpPr txBox="1"/>
          <p:nvPr/>
        </p:nvSpPr>
        <p:spPr>
          <a:xfrm>
            <a:off x="4613528" y="5716956"/>
            <a:ext cx="116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State variable 2</a:t>
            </a:r>
          </a:p>
          <a:p>
            <a:r>
              <a:rPr lang="da-DK" sz="1100" dirty="0"/>
              <a:t>State variable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68135-977F-C3A5-4431-E6D8B12133C2}"/>
              </a:ext>
            </a:extLst>
          </p:cNvPr>
          <p:cNvSpPr txBox="1"/>
          <p:nvPr/>
        </p:nvSpPr>
        <p:spPr>
          <a:xfrm>
            <a:off x="4614635" y="6026544"/>
            <a:ext cx="116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State variable 2</a:t>
            </a:r>
          </a:p>
          <a:p>
            <a:r>
              <a:rPr lang="da-DK" sz="1100" dirty="0"/>
              <a:t>State variable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F3D7E7-E594-93F6-EF6E-181E66D88C45}"/>
              </a:ext>
            </a:extLst>
          </p:cNvPr>
          <p:cNvSpPr txBox="1"/>
          <p:nvPr/>
        </p:nvSpPr>
        <p:spPr>
          <a:xfrm>
            <a:off x="5779608" y="5004237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z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80D328-3C12-DE9E-2E7D-FE447462575B}"/>
              </a:ext>
            </a:extLst>
          </p:cNvPr>
          <p:cNvSpPr txBox="1"/>
          <p:nvPr/>
        </p:nvSpPr>
        <p:spPr>
          <a:xfrm>
            <a:off x="5786902" y="5175931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z =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2D107-A117-22A2-4E07-C7B1A4D42566}"/>
              </a:ext>
            </a:extLst>
          </p:cNvPr>
          <p:cNvSpPr txBox="1"/>
          <p:nvPr/>
        </p:nvSpPr>
        <p:spPr>
          <a:xfrm>
            <a:off x="5786902" y="5329080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z =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77480-C058-0227-4C3D-A7393593E9BC}"/>
              </a:ext>
            </a:extLst>
          </p:cNvPr>
          <p:cNvSpPr txBox="1"/>
          <p:nvPr/>
        </p:nvSpPr>
        <p:spPr>
          <a:xfrm>
            <a:off x="5786902" y="5501503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z =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03CFE9-13D9-DEDB-8C97-19C66227CC09}"/>
              </a:ext>
            </a:extLst>
          </p:cNvPr>
          <p:cNvSpPr txBox="1"/>
          <p:nvPr/>
        </p:nvSpPr>
        <p:spPr>
          <a:xfrm>
            <a:off x="1123950" y="5456090"/>
            <a:ext cx="2500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Output from </a:t>
            </a:r>
            <a:r>
              <a:rPr lang="da-DK" dirty="0" err="1"/>
              <a:t>solve_ivp</a:t>
            </a:r>
            <a:r>
              <a:rPr lang="da-DK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5723599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BF9F-BFFB-255A-6C4F-1E14CA86D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051"/>
            <a:ext cx="4610100" cy="1073150"/>
          </a:xfrm>
        </p:spPr>
        <p:txBody>
          <a:bodyPr/>
          <a:lstStyle/>
          <a:p>
            <a:r>
              <a:rPr lang="da-DK" dirty="0"/>
              <a:t>Modular approach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8D521-097A-F9B1-1C89-A5044E18BA14}"/>
              </a:ext>
            </a:extLst>
          </p:cNvPr>
          <p:cNvSpPr/>
          <p:nvPr/>
        </p:nvSpPr>
        <p:spPr>
          <a:xfrm>
            <a:off x="838200" y="4114800"/>
            <a:ext cx="3848100" cy="14001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Rates()</a:t>
            </a:r>
          </a:p>
          <a:p>
            <a:pPr algn="ctr"/>
            <a:r>
              <a:rPr lang="da-DK" dirty="0" err="1"/>
              <a:t>Solve_ivp</a:t>
            </a:r>
            <a:r>
              <a:rPr lang="da-DK" dirty="0"/>
              <a:t>()</a:t>
            </a:r>
          </a:p>
          <a:p>
            <a:pPr algn="ctr"/>
            <a:r>
              <a:rPr lang="da-DK" dirty="0"/>
              <a:t>return </a:t>
            </a:r>
            <a:r>
              <a:rPr lang="da-DK" dirty="0" err="1"/>
              <a:t>dictionary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B491A-9A11-4111-0F3F-608DDD9BCEE5}"/>
              </a:ext>
            </a:extLst>
          </p:cNvPr>
          <p:cNvSpPr txBox="1"/>
          <p:nvPr/>
        </p:nvSpPr>
        <p:spPr>
          <a:xfrm>
            <a:off x="2352522" y="3745468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Model()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64CAB-8B4B-EDD9-DA6D-C516311FE70C}"/>
              </a:ext>
            </a:extLst>
          </p:cNvPr>
          <p:cNvSpPr/>
          <p:nvPr/>
        </p:nvSpPr>
        <p:spPr>
          <a:xfrm>
            <a:off x="838200" y="1584068"/>
            <a:ext cx="3848100" cy="14001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Load </a:t>
            </a:r>
            <a:r>
              <a:rPr lang="da-DK" dirty="0" err="1">
                <a:solidFill>
                  <a:schemeClr val="tx1"/>
                </a:solidFill>
              </a:rPr>
              <a:t>libraries</a:t>
            </a:r>
            <a:endParaRPr lang="da-DK" dirty="0">
              <a:solidFill>
                <a:schemeClr val="tx1"/>
              </a:solidFill>
            </a:endParaRPr>
          </a:p>
          <a:p>
            <a:pPr algn="ctr"/>
            <a:r>
              <a:rPr lang="da-DK" dirty="0">
                <a:solidFill>
                  <a:schemeClr val="tx1"/>
                </a:solidFill>
              </a:rPr>
              <a:t>Load model</a:t>
            </a:r>
          </a:p>
          <a:p>
            <a:pPr algn="ctr"/>
            <a:r>
              <a:rPr lang="da-DK" dirty="0">
                <a:solidFill>
                  <a:schemeClr val="tx1"/>
                </a:solidFill>
              </a:rPr>
              <a:t>Call model with </a:t>
            </a:r>
            <a:r>
              <a:rPr lang="da-DK" dirty="0" err="1">
                <a:solidFill>
                  <a:schemeClr val="tx1"/>
                </a:solidFill>
              </a:rPr>
              <a:t>different</a:t>
            </a:r>
            <a:r>
              <a:rPr lang="da-DK" dirty="0">
                <a:solidFill>
                  <a:schemeClr val="tx1"/>
                </a:solidFill>
              </a:rPr>
              <a:t> input </a:t>
            </a:r>
            <a:r>
              <a:rPr lang="da-DK" dirty="0" err="1">
                <a:solidFill>
                  <a:schemeClr val="tx1"/>
                </a:solidFill>
              </a:rPr>
              <a:t>values</a:t>
            </a:r>
            <a:endParaRPr lang="da-DK" dirty="0">
              <a:solidFill>
                <a:schemeClr val="tx1"/>
              </a:solidFill>
            </a:endParaRPr>
          </a:p>
          <a:p>
            <a:pPr algn="ctr"/>
            <a:r>
              <a:rPr lang="da-DK" dirty="0">
                <a:solidFill>
                  <a:schemeClr val="tx1"/>
                </a:solidFill>
              </a:rPr>
              <a:t>Plot model </a:t>
            </a:r>
            <a:r>
              <a:rPr lang="da-DK" dirty="0" err="1">
                <a:solidFill>
                  <a:schemeClr val="tx1"/>
                </a:solidFill>
              </a:rPr>
              <a:t>predictions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7F85C-C27D-050D-2A64-A6C44C1CB115}"/>
              </a:ext>
            </a:extLst>
          </p:cNvPr>
          <p:cNvSpPr txBox="1"/>
          <p:nvPr/>
        </p:nvSpPr>
        <p:spPr>
          <a:xfrm>
            <a:off x="1714500" y="1158359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Script running model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D8B02D-A4D0-F838-57C5-B316C2197561}"/>
              </a:ext>
            </a:extLst>
          </p:cNvPr>
          <p:cNvCxnSpPr/>
          <p:nvPr/>
        </p:nvCxnSpPr>
        <p:spPr>
          <a:xfrm>
            <a:off x="2762250" y="3171825"/>
            <a:ext cx="0" cy="457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FAF494F-4271-6DB4-5EBD-9ED5D476E275}"/>
              </a:ext>
            </a:extLst>
          </p:cNvPr>
          <p:cNvSpPr/>
          <p:nvPr/>
        </p:nvSpPr>
        <p:spPr>
          <a:xfrm>
            <a:off x="7210425" y="1584068"/>
            <a:ext cx="3848100" cy="39309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Load </a:t>
            </a:r>
            <a:r>
              <a:rPr lang="da-DK" dirty="0" err="1">
                <a:solidFill>
                  <a:schemeClr val="tx1"/>
                </a:solidFill>
              </a:rPr>
              <a:t>libraries</a:t>
            </a:r>
            <a:r>
              <a:rPr lang="da-DK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da-DK" dirty="0" err="1">
                <a:solidFill>
                  <a:schemeClr val="tx1"/>
                </a:solidFill>
              </a:rPr>
              <a:t>Define</a:t>
            </a:r>
            <a:r>
              <a:rPr lang="da-DK" dirty="0">
                <a:solidFill>
                  <a:schemeClr val="tx1"/>
                </a:solidFill>
              </a:rPr>
              <a:t> input </a:t>
            </a:r>
            <a:r>
              <a:rPr lang="da-DK" dirty="0" err="1">
                <a:solidFill>
                  <a:schemeClr val="tx1"/>
                </a:solidFill>
              </a:rPr>
              <a:t>values</a:t>
            </a:r>
            <a:endParaRPr lang="da-DK" dirty="0">
              <a:solidFill>
                <a:schemeClr val="tx1"/>
              </a:solidFill>
            </a:endParaRPr>
          </a:p>
          <a:p>
            <a:pPr algn="ctr"/>
            <a:endParaRPr lang="da-DK" dirty="0">
              <a:solidFill>
                <a:schemeClr val="tx1"/>
              </a:solidFill>
            </a:endParaRPr>
          </a:p>
          <a:p>
            <a:pPr algn="ctr"/>
            <a:endParaRPr lang="da-DK" dirty="0">
              <a:solidFill>
                <a:schemeClr val="tx1"/>
              </a:solidFill>
            </a:endParaRPr>
          </a:p>
          <a:p>
            <a:pPr algn="ctr"/>
            <a:endParaRPr lang="da-DK" dirty="0">
              <a:solidFill>
                <a:schemeClr val="tx1"/>
              </a:solidFill>
            </a:endParaRPr>
          </a:p>
          <a:p>
            <a:pPr algn="ctr"/>
            <a:r>
              <a:rPr lang="da-DK" dirty="0">
                <a:solidFill>
                  <a:schemeClr val="tx1"/>
                </a:solidFill>
              </a:rPr>
              <a:t>Rates()</a:t>
            </a:r>
          </a:p>
          <a:p>
            <a:pPr algn="ctr"/>
            <a:endParaRPr lang="da-DK" dirty="0">
              <a:solidFill>
                <a:schemeClr val="tx1"/>
              </a:solidFill>
            </a:endParaRPr>
          </a:p>
          <a:p>
            <a:pPr algn="ctr"/>
            <a:endParaRPr lang="da-DK" dirty="0">
              <a:solidFill>
                <a:schemeClr val="tx1"/>
              </a:solidFill>
            </a:endParaRPr>
          </a:p>
          <a:p>
            <a:pPr algn="ctr"/>
            <a:r>
              <a:rPr lang="da-DK" dirty="0">
                <a:solidFill>
                  <a:schemeClr val="tx1"/>
                </a:solidFill>
              </a:rPr>
              <a:t>       </a:t>
            </a:r>
            <a:r>
              <a:rPr lang="da-DK" dirty="0" err="1">
                <a:solidFill>
                  <a:schemeClr val="tx1"/>
                </a:solidFill>
              </a:rPr>
              <a:t>Solve_ivp</a:t>
            </a:r>
            <a:r>
              <a:rPr lang="da-DK" dirty="0">
                <a:solidFill>
                  <a:schemeClr val="tx1"/>
                </a:solidFill>
              </a:rPr>
              <a:t>()</a:t>
            </a:r>
          </a:p>
          <a:p>
            <a:pPr algn="ctr"/>
            <a:endParaRPr lang="da-DK" dirty="0">
              <a:solidFill>
                <a:schemeClr val="tx1"/>
              </a:solidFill>
            </a:endParaRPr>
          </a:p>
          <a:p>
            <a:pPr algn="ctr"/>
            <a:endParaRPr lang="da-DK" dirty="0">
              <a:solidFill>
                <a:schemeClr val="tx1"/>
              </a:solidFill>
            </a:endParaRPr>
          </a:p>
          <a:p>
            <a:pPr algn="ctr"/>
            <a:endParaRPr lang="da-DK" dirty="0">
              <a:solidFill>
                <a:schemeClr val="tx1"/>
              </a:solidFill>
            </a:endParaRPr>
          </a:p>
          <a:p>
            <a:pPr algn="ctr"/>
            <a:r>
              <a:rPr lang="da-DK" dirty="0">
                <a:solidFill>
                  <a:schemeClr val="tx1"/>
                </a:solidFill>
              </a:rPr>
              <a:t>Plot and </a:t>
            </a:r>
            <a:r>
              <a:rPr lang="da-DK" dirty="0" err="1">
                <a:solidFill>
                  <a:schemeClr val="tx1"/>
                </a:solidFill>
              </a:rPr>
              <a:t>inspect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solve_ivp</a:t>
            </a:r>
            <a:r>
              <a:rPr lang="da-DK" dirty="0">
                <a:solidFill>
                  <a:schemeClr val="tx1"/>
                </a:solidFill>
              </a:rPr>
              <a:t>() output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E58C62-0B8C-C707-5F33-D93644D00804}"/>
              </a:ext>
            </a:extLst>
          </p:cNvPr>
          <p:cNvSpPr txBox="1"/>
          <p:nvPr/>
        </p:nvSpPr>
        <p:spPr>
          <a:xfrm>
            <a:off x="8086725" y="115835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Script with model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34F304-A327-B284-AF08-EC1DE292299F}"/>
              </a:ext>
            </a:extLst>
          </p:cNvPr>
          <p:cNvCxnSpPr>
            <a:cxnSpLocks/>
          </p:cNvCxnSpPr>
          <p:nvPr/>
        </p:nvCxnSpPr>
        <p:spPr>
          <a:xfrm>
            <a:off x="9086850" y="3430994"/>
            <a:ext cx="0" cy="4857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1268CB-288D-1086-1C81-69696F3E6824}"/>
              </a:ext>
            </a:extLst>
          </p:cNvPr>
          <p:cNvCxnSpPr>
            <a:cxnSpLocks/>
          </p:cNvCxnSpPr>
          <p:nvPr/>
        </p:nvCxnSpPr>
        <p:spPr>
          <a:xfrm>
            <a:off x="9629775" y="2426881"/>
            <a:ext cx="0" cy="14898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AB3D1F6F-8D67-7451-6BA3-B392EFF135E4}"/>
              </a:ext>
            </a:extLst>
          </p:cNvPr>
          <p:cNvSpPr txBox="1">
            <a:spLocks/>
          </p:cNvSpPr>
          <p:nvPr/>
        </p:nvSpPr>
        <p:spPr>
          <a:xfrm>
            <a:off x="7696200" y="146051"/>
            <a:ext cx="4610100" cy="1073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Script approach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DA6C17-48F4-963B-7D24-50CBE92828CB}"/>
              </a:ext>
            </a:extLst>
          </p:cNvPr>
          <p:cNvCxnSpPr>
            <a:cxnSpLocks/>
          </p:cNvCxnSpPr>
          <p:nvPr/>
        </p:nvCxnSpPr>
        <p:spPr>
          <a:xfrm>
            <a:off x="9086850" y="4326344"/>
            <a:ext cx="0" cy="6742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21694D9-F39A-5D23-074E-D64BB50285EB}"/>
              </a:ext>
            </a:extLst>
          </p:cNvPr>
          <p:cNvSpPr txBox="1"/>
          <p:nvPr/>
        </p:nvSpPr>
        <p:spPr>
          <a:xfrm>
            <a:off x="1816895" y="5699641"/>
            <a:ext cx="1890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Difficult</a:t>
            </a:r>
            <a:r>
              <a:rPr lang="da-DK" dirty="0">
                <a:solidFill>
                  <a:srgbClr val="FF0000"/>
                </a:solidFill>
              </a:rPr>
              <a:t> to </a:t>
            </a:r>
            <a:r>
              <a:rPr lang="da-DK" dirty="0" err="1">
                <a:solidFill>
                  <a:srgbClr val="FF0000"/>
                </a:solidFill>
              </a:rPr>
              <a:t>debug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78B4DE-0DD4-92F7-565C-192DBB255DE3}"/>
              </a:ext>
            </a:extLst>
          </p:cNvPr>
          <p:cNvSpPr txBox="1"/>
          <p:nvPr/>
        </p:nvSpPr>
        <p:spPr>
          <a:xfrm>
            <a:off x="8351343" y="5695176"/>
            <a:ext cx="1566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Easy</a:t>
            </a:r>
            <a:r>
              <a:rPr lang="da-DK" dirty="0">
                <a:solidFill>
                  <a:srgbClr val="FF0000"/>
                </a:solidFill>
              </a:rPr>
              <a:t> to </a:t>
            </a:r>
            <a:r>
              <a:rPr lang="da-DK" dirty="0" err="1">
                <a:solidFill>
                  <a:srgbClr val="FF0000"/>
                </a:solidFill>
              </a:rPr>
              <a:t>debug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46276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C5938109-F486-41EA-929F-D7DF65C5D6B1}">
  <ds:schemaRefs/>
</ds:datastoreItem>
</file>

<file path=customXml/itemProps2.xml><?xml version="1.0" encoding="utf-8"?>
<ds:datastoreItem xmlns:ds="http://schemas.openxmlformats.org/officeDocument/2006/customXml" ds:itemID="{386C9AF7-FC43-4772-BF6D-26FE95C56D62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</Words>
  <Application>Microsoft Office PowerPoint</Application>
  <PresentationFormat>Widescreen</PresentationFormat>
  <Paragraphs>153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 Theme</vt:lpstr>
      <vt:lpstr>Mini project 2 general tips</vt:lpstr>
      <vt:lpstr>Are boundaries included in model?</vt:lpstr>
      <vt:lpstr>PowerPoint Presentation</vt:lpstr>
      <vt:lpstr>PowerPoint Presentation</vt:lpstr>
      <vt:lpstr>Handling 2 state variables</vt:lpstr>
      <vt:lpstr>Alternative</vt:lpstr>
      <vt:lpstr>Modular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2025-10-25T14:07:46Z</dcterms:created>
  <dcterms:modified xsi:type="dcterms:W3CDTF">2025-11-11T08:09:31Z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